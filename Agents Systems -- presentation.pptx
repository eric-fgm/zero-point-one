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e2d8e961e_0_1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ee2d8e961e_0_176:notes"/>
          <p:cNvSpPr/>
          <p:nvPr>
            <p:ph idx="2" type="sldImg"/>
          </p:nvPr>
        </p:nvSpPr>
        <p:spPr>
          <a:xfrm>
            <a:off x="382508" y="685800"/>
            <a:ext cx="6093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e2d8e961e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e2d8e961e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e2d8e961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e2d8e961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jd tytułowy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1100" lIns="62225" spcFirstLastPara="1" rIns="62225" wrap="square" tIns="311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1100" lIns="62225" spcFirstLastPara="1" rIns="62225" wrap="square" tIns="31100">
            <a:noAutofit/>
          </a:bodyPr>
          <a:lstStyle>
            <a:lvl1pPr lv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907" y="4767463"/>
            <a:ext cx="2057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10" y="4767463"/>
            <a:ext cx="30861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639" y="4767463"/>
            <a:ext cx="2057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az z podpisem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1100" lIns="62225" spcFirstLastPara="1" rIns="62225" wrap="square" tIns="311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4" name="Google Shape;64;p15"/>
          <p:cNvSpPr/>
          <p:nvPr>
            <p:ph idx="2" type="pic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1100" lIns="62225" spcFirstLastPara="1" rIns="62225" wrap="square" tIns="311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907" y="4767463"/>
            <a:ext cx="2057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10" y="4767463"/>
            <a:ext cx="30861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639" y="4767463"/>
            <a:ext cx="2057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sty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0" type="dt"/>
          </p:nvPr>
        </p:nvSpPr>
        <p:spPr>
          <a:xfrm>
            <a:off x="628907" y="4767463"/>
            <a:ext cx="2057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028910" y="4767463"/>
            <a:ext cx="30861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457639" y="4767463"/>
            <a:ext cx="2057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zawartość" type="obj">
  <p:cSld name="OBJEC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628907" y="273384"/>
            <a:ext cx="7886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628907" y="1369079"/>
            <a:ext cx="7886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1100" lIns="62225" spcFirstLastPara="1" rIns="62225" wrap="square" tIns="31100">
            <a:noAutofit/>
          </a:bodyPr>
          <a:lstStyle>
            <a:lvl1pPr indent="-3048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628907" y="4767463"/>
            <a:ext cx="2057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028910" y="4767463"/>
            <a:ext cx="30861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457639" y="4767463"/>
            <a:ext cx="2057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główek sekcji" type="secHead">
  <p:cSld name="SECTION_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623887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1100" lIns="62225" spcFirstLastPara="1" rIns="62225" wrap="square" tIns="311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623887" y="3442098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1100" lIns="62225" spcFirstLastPara="1" rIns="62225" wrap="square" tIns="311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628907" y="4767463"/>
            <a:ext cx="2057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028910" y="4767463"/>
            <a:ext cx="30861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457639" y="4767463"/>
            <a:ext cx="2057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wa elementy zawartości" type="twoObj">
  <p:cSld name="TWO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628907" y="273384"/>
            <a:ext cx="7886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1100" lIns="62225" spcFirstLastPara="1" rIns="62225" wrap="square" tIns="31100">
            <a:noAutofit/>
          </a:bodyPr>
          <a:lstStyle>
            <a:lvl1pPr indent="-3048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1100" lIns="62225" spcFirstLastPara="1" rIns="62225" wrap="square" tIns="31100">
            <a:noAutofit/>
          </a:bodyPr>
          <a:lstStyle>
            <a:lvl1pPr indent="-3048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0" type="dt"/>
          </p:nvPr>
        </p:nvSpPr>
        <p:spPr>
          <a:xfrm>
            <a:off x="628907" y="4767463"/>
            <a:ext cx="2057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1" type="ftr"/>
          </p:nvPr>
        </p:nvSpPr>
        <p:spPr>
          <a:xfrm>
            <a:off x="3028910" y="4767463"/>
            <a:ext cx="30861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6457639" y="4767463"/>
            <a:ext cx="2057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ównanie" type="twoTxTwoObj">
  <p:cSld name="TWO_OBJECTS_WITH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629841" y="1260873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1100" lIns="62225" spcFirstLastPara="1" rIns="62225" wrap="square" tIns="311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5" name="Google Shape;95;p20"/>
          <p:cNvSpPr txBox="1"/>
          <p:nvPr>
            <p:ph idx="2" type="body"/>
          </p:nvPr>
        </p:nvSpPr>
        <p:spPr>
          <a:xfrm>
            <a:off x="629841" y="1878807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1100" lIns="62225" spcFirstLastPara="1" rIns="62225" wrap="square" tIns="31100">
            <a:noAutofit/>
          </a:bodyPr>
          <a:lstStyle>
            <a:lvl1pPr indent="-3048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3" type="body"/>
          </p:nvPr>
        </p:nvSpPr>
        <p:spPr>
          <a:xfrm>
            <a:off x="4629150" y="1260873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1100" lIns="62225" spcFirstLastPara="1" rIns="62225" wrap="square" tIns="311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7" name="Google Shape;97;p20"/>
          <p:cNvSpPr txBox="1"/>
          <p:nvPr>
            <p:ph idx="4" type="body"/>
          </p:nvPr>
        </p:nvSpPr>
        <p:spPr>
          <a:xfrm>
            <a:off x="4629150" y="1878807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1100" lIns="62225" spcFirstLastPara="1" rIns="62225" wrap="square" tIns="31100">
            <a:noAutofit/>
          </a:bodyPr>
          <a:lstStyle>
            <a:lvl1pPr indent="-3048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628907" y="4767463"/>
            <a:ext cx="2057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3028910" y="4767463"/>
            <a:ext cx="30861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6457639" y="4767463"/>
            <a:ext cx="2057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lko tytuł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628907" y="273384"/>
            <a:ext cx="7886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907" y="4767463"/>
            <a:ext cx="2057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10" y="4767463"/>
            <a:ext cx="30861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639" y="4767463"/>
            <a:ext cx="2057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awartość z podpisem" type="objTx">
  <p:cSld name="OBJECT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1100" lIns="62225" spcFirstLastPara="1" rIns="62225" wrap="square" tIns="311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1100" lIns="62225" spcFirstLastPara="1" rIns="62225" wrap="square" tIns="311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9" name="Google Shape;109;p22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1100" lIns="62225" spcFirstLastPara="1" rIns="62225" wrap="square" tIns="311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907" y="4767463"/>
            <a:ext cx="2057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10" y="4767463"/>
            <a:ext cx="30861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639" y="4767463"/>
            <a:ext cx="2057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tekst pionowy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907" y="273384"/>
            <a:ext cx="7886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343" y="-942271"/>
            <a:ext cx="3263400" cy="78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1100" lIns="62225" spcFirstLastPara="1" rIns="62225" wrap="square" tIns="31100">
            <a:noAutofit/>
          </a:bodyPr>
          <a:lstStyle>
            <a:lvl1pPr indent="-3048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907" y="4767463"/>
            <a:ext cx="2057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10" y="4767463"/>
            <a:ext cx="30861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639" y="4767463"/>
            <a:ext cx="2057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pionowy i teks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1100" lIns="62225" spcFirstLastPara="1" rIns="62225" wrap="square" tIns="31100">
            <a:noAutofit/>
          </a:bodyPr>
          <a:lstStyle>
            <a:lvl1pPr indent="-3048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907" y="4767463"/>
            <a:ext cx="2057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10" y="4767463"/>
            <a:ext cx="30861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639" y="4767463"/>
            <a:ext cx="2057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907" y="273384"/>
            <a:ext cx="7886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907" y="1369079"/>
            <a:ext cx="7886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1100" lIns="62225" spcFirstLastPara="1" rIns="62225" wrap="square" tIns="31100">
            <a:noAutofit/>
          </a:bodyPr>
          <a:lstStyle>
            <a:lvl1pPr indent="-355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11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11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11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115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907" y="4767463"/>
            <a:ext cx="2057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10" y="4767463"/>
            <a:ext cx="30861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639" y="4767463"/>
            <a:ext cx="20574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25" spcFirstLastPara="1" rIns="62225" wrap="square" tIns="311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1594237" y="1906645"/>
            <a:ext cx="58332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1100" lIns="39150" spcFirstLastPara="1" rIns="39150" wrap="square" tIns="31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25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Analysis of the Family of Priceable Committees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1594224" y="4003727"/>
            <a:ext cx="59556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1100" lIns="39150" spcFirstLastPara="1" rIns="39150" wrap="square" tIns="3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" sz="16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Autor: 		Hieronim Koc</a:t>
            </a:r>
            <a:endParaRPr b="0" i="0" sz="1600" u="none" cap="none" strike="noStrike">
              <a:solidFill>
                <a:srgbClr val="7F7F7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Opiekun</a:t>
            </a:r>
            <a:r>
              <a:rPr b="0" i="0" lang="pl" sz="16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: 		</a:t>
            </a:r>
            <a:r>
              <a:rPr lang="pl" sz="160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prof. dr hab. inż. Piotr Faliszewski</a:t>
            </a:r>
            <a:endParaRPr sz="1000"/>
          </a:p>
        </p:txBody>
      </p:sp>
      <p:sp>
        <p:nvSpPr>
          <p:cNvPr id="131" name="Google Shape;131;p25"/>
          <p:cNvSpPr/>
          <p:nvPr/>
        </p:nvSpPr>
        <p:spPr>
          <a:xfrm>
            <a:off x="1594237" y="2784495"/>
            <a:ext cx="58332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1100" lIns="39150" spcFirstLastPara="1" rIns="39150" wrap="square" tIns="311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1100"/>
              <a:buNone/>
            </a:pPr>
            <a:r>
              <a:rPr b="1" lang="pl" sz="2300">
                <a:solidFill>
                  <a:schemeClr val="dk1"/>
                </a:solidFill>
              </a:rPr>
              <a:t>Analiza rodziny komitetów wycenialnych</a:t>
            </a:r>
            <a:endParaRPr i="1" sz="25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/>
        </p:nvSpPr>
        <p:spPr>
          <a:xfrm>
            <a:off x="1922163" y="403375"/>
            <a:ext cx="6622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25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Fair division of public money </a:t>
            </a:r>
            <a:endParaRPr sz="25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6"/>
          <p:cNvSpPr txBox="1"/>
          <p:nvPr/>
        </p:nvSpPr>
        <p:spPr>
          <a:xfrm>
            <a:off x="1189753" y="1312600"/>
            <a:ext cx="6339600" cy="22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500"/>
              <a:buFont typeface="Roboto"/>
              <a:buChar char="○"/>
            </a:pPr>
            <a:r>
              <a:rPr lang="pl" sz="1500">
                <a:solidFill>
                  <a:srgbClr val="292929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Participatory budgeting: cities let residents vote how to spend real public money </a:t>
            </a:r>
            <a:endParaRPr sz="1500">
              <a:solidFill>
                <a:srgbClr val="292929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92929"/>
              </a:buClr>
              <a:buSzPts val="1500"/>
              <a:buFont typeface="Roboto"/>
              <a:buChar char="○"/>
            </a:pPr>
            <a:r>
              <a:rPr lang="pl" sz="1500">
                <a:solidFill>
                  <a:srgbClr val="292929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Core problem: pick a fair set of projects / a fair committee</a:t>
            </a:r>
            <a:endParaRPr sz="1500">
              <a:solidFill>
                <a:srgbClr val="292929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92929"/>
              </a:buClr>
              <a:buSzPts val="1500"/>
              <a:buFont typeface="Roboto"/>
              <a:buChar char="○"/>
            </a:pPr>
            <a:r>
              <a:rPr lang="pl" sz="1500">
                <a:solidFill>
                  <a:srgbClr val="292929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"Fair" needs a principled definition (like Priceability :))</a:t>
            </a:r>
            <a:endParaRPr sz="1500">
              <a:solidFill>
                <a:srgbClr val="292929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92929"/>
              </a:buClr>
              <a:buSzPts val="1500"/>
              <a:buFont typeface="Roboto"/>
              <a:buChar char="○"/>
            </a:pPr>
            <a:r>
              <a:rPr lang="pl" sz="1500">
                <a:solidFill>
                  <a:srgbClr val="292929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Theory + experiments</a:t>
            </a:r>
            <a:endParaRPr sz="1500">
              <a:solidFill>
                <a:srgbClr val="292929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ank Presentation - Default">
  <a:themeElements>
    <a:clrScheme name="Motyw pakietu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